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81" d="100"/>
          <a:sy n="81" d="100"/>
        </p:scale>
        <p:origin x="51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8B5FB-AE44-97CB-E1B5-453ED64A9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C4460-B59E-A571-41D8-735A35F30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40407-0BD8-7BB5-956D-23A40DD65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B0AAF-8AF0-4BD3-8F66-8504DDDD379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9CB5F-E988-5CE8-2F97-0F52CA17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145DD-CDA7-7626-F224-B307F6264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16B1-C2FD-4EA5-93F0-F9404EF95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2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2923-85C7-0214-66EE-25DABA4EC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6CA6F-76C9-D845-8D4B-DB169201B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3B887-129D-8084-D79B-B30FF4BEB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B0AAF-8AF0-4BD3-8F66-8504DDDD379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346AA-7C68-7C6C-E672-C65D96B8F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DBA-42FD-EBFB-4FEC-D1B62CC80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16B1-C2FD-4EA5-93F0-F9404EF95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39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438E-132C-6F2F-C570-6FDD5586F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8344B-7ECB-9858-7039-3C56096C1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B9622-3F14-02E5-A156-ECF385D76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B0AAF-8AF0-4BD3-8F66-8504DDDD379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D77D6-9EC0-8DF4-882A-CD256F38A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C7F48-B13D-1B93-667C-A92C8534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16B1-C2FD-4EA5-93F0-F9404EF95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75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C483-58EE-19B1-BC0A-BE52737D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28ED5-336D-261C-0653-4DA52C2C42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B4923-4636-B494-37D4-4878A199A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29091-1BBB-31FE-CB1F-80890905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B0AAF-8AF0-4BD3-8F66-8504DDDD379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65552-C825-B8E0-8AA5-C60EEF30B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ACFB4-EE03-4E32-679C-81D76816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16B1-C2FD-4EA5-93F0-F9404EF95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61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F78A-47DC-11CF-228D-E452E3C6A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7A4D5-0780-E6FA-5B46-7B2FEF8FD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8E475-477C-6C31-F266-742658E1C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5CB20-9E1C-6C01-211F-FF837A8FD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B3C12-70CA-6BBE-08F1-007BF91A7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10E1FA-411C-874F-6171-65EA0FEAB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B0AAF-8AF0-4BD3-8F66-8504DDDD379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2134DC-2E2B-4F33-97B0-C9E70302E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67E1DB-DFC3-6CBD-08FF-04D034E4B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16B1-C2FD-4EA5-93F0-F9404EF95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217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0D24B-8CD3-490B-9D95-F922D579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76772-D8FC-7D25-FC6A-F08855723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B0AAF-8AF0-4BD3-8F66-8504DDDD379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12AE2-A593-BA5D-AE90-AD4405B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26B97-E943-A0C1-5124-E0B9F5710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16B1-C2FD-4EA5-93F0-F9404EF95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9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29236C-C9ED-35BB-1C76-CDFBFB42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B0AAF-8AF0-4BD3-8F66-8504DDDD379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BB72B-A7C7-978A-D9FC-18A01B8F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F7ABA-F2E0-732C-615A-4F2AB62B9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16B1-C2FD-4EA5-93F0-F9404EF95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1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CFF0-F0B8-388B-A06B-FA0832AF0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721D8-AB09-EF2D-6049-B15306932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543FE-5960-1965-1700-4D80637D6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76436-CCA5-7DA7-BF50-F81C10A5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B0AAF-8AF0-4BD3-8F66-8504DDDD379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5CC39-414F-3CD8-582F-F3ED4B078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D1DF4-6422-3EB0-CB20-FD95932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16B1-C2FD-4EA5-93F0-F9404EF95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77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AED2E-961C-4A6B-3E9C-ED8EB72E6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C9B5E9-802A-B844-96A4-0DB3DDA46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A5382-5A5E-853E-5853-88FE51197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0D73C-5C6F-BCB0-F2CD-738FFF85F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B0AAF-8AF0-4BD3-8F66-8504DDDD379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FD478-C5E2-68C7-7ABB-1A467CAC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CB116-3819-B937-F76F-8C4FDB048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16B1-C2FD-4EA5-93F0-F9404EF95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02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B2847-2AB4-BAB3-EB03-EF0340F62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226EF5-2F4E-FC91-2AA5-84016C7BE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C0DF5-A985-0575-CF7D-FDC7133AC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B0AAF-8AF0-4BD3-8F66-8504DDDD379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86C87-4C27-40FE-702E-896DAAC8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C0D72-3E18-CE96-F1D6-16F7CFE4A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16B1-C2FD-4EA5-93F0-F9404EF95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41347-EF00-E89B-5DE2-7E6A099C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9A159B-322D-66E6-AB02-317B73CD5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E7146-FB68-63E2-8BA2-D44BF27CE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B0AAF-8AF0-4BD3-8F66-8504DDDD379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AC518-47F9-0FD4-C60D-3857C6D0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8C005-1641-760E-C885-27E7F0C3F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16B1-C2FD-4EA5-93F0-F9404EF95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6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B8C5E2-7A01-6ED7-862D-0E67B2E9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BF27D-164C-8A53-1D8C-EDBCEE6C7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75F54-A436-C31E-A4BE-F4BDB22106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B0AAF-8AF0-4BD3-8F66-8504DDDD379C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EBD83-5EC7-9A03-4129-6061638C1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C0AF1-6514-2491-A4CB-F117E105F7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2E16B1-C2FD-4EA5-93F0-F9404EF95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4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286B9F-BE75-F8D3-2CE0-E098746F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Market Segmentation: How M&amp;S Divides the Fashion Market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A1FD1C-B119-0634-D084-32F6B72371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1978232"/>
              </p:ext>
            </p:extLst>
          </p:nvPr>
        </p:nvGraphicFramePr>
        <p:xfrm>
          <a:off x="5922492" y="1250627"/>
          <a:ext cx="5536001" cy="4297994"/>
        </p:xfrm>
        <a:graphic>
          <a:graphicData uri="http://schemas.openxmlformats.org/drawingml/2006/table">
            <a:tbl>
              <a:tblPr/>
              <a:tblGrid>
                <a:gridCol w="2346247">
                  <a:extLst>
                    <a:ext uri="{9D8B030D-6E8A-4147-A177-3AD203B41FA5}">
                      <a16:colId xmlns:a16="http://schemas.microsoft.com/office/drawing/2014/main" val="225803824"/>
                    </a:ext>
                  </a:extLst>
                </a:gridCol>
                <a:gridCol w="3189754">
                  <a:extLst>
                    <a:ext uri="{9D8B030D-6E8A-4147-A177-3AD203B41FA5}">
                      <a16:colId xmlns:a16="http://schemas.microsoft.com/office/drawing/2014/main" val="2804627575"/>
                    </a:ext>
                  </a:extLst>
                </a:gridCol>
              </a:tblGrid>
              <a:tr h="4111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Segmentation Type</a:t>
                      </a:r>
                    </a:p>
                  </a:txBody>
                  <a:tcPr marL="93435" marR="93435" marT="46717" marB="467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M&amp;S Example</a:t>
                      </a:r>
                    </a:p>
                  </a:txBody>
                  <a:tcPr marL="93435" marR="93435" marT="46717" marB="467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778348"/>
                  </a:ext>
                </a:extLst>
              </a:tr>
              <a:tr h="6914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Demographic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5" marR="93435" marT="46717" marB="467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Gen Z, Millennials, and existing older customers</a:t>
                      </a:r>
                    </a:p>
                  </a:txBody>
                  <a:tcPr marL="93435" marR="93435" marT="46717" marB="467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38755"/>
                  </a:ext>
                </a:extLst>
              </a:tr>
              <a:tr h="9717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Geographic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5" marR="93435" marT="46717" marB="467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UK market, with growing international visibility through London Fashion Week</a:t>
                      </a:r>
                    </a:p>
                  </a:txBody>
                  <a:tcPr marL="93435" marR="93435" marT="46717" marB="467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762187"/>
                  </a:ext>
                </a:extLst>
              </a:tr>
              <a:tr h="9717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Psychographic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5" marR="93435" marT="46717" marB="467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Fashion-conscious consumers who value style, quality, and affordability</a:t>
                      </a:r>
                    </a:p>
                  </a:txBody>
                  <a:tcPr marL="93435" marR="93435" marT="46717" marB="467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008360"/>
                  </a:ext>
                </a:extLst>
              </a:tr>
              <a:tr h="125202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Behavioural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435" marR="93435" marT="46717" marB="467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Customers influenced by TikTok trends, influencers, and seasonal fashion collections</a:t>
                      </a:r>
                    </a:p>
                  </a:txBody>
                  <a:tcPr marL="93435" marR="93435" marT="46717" marB="467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731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271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C98DAD-E804-CD3A-E6DB-DF32D7D3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>
            <a:normAutofit/>
          </a:bodyPr>
          <a:lstStyle/>
          <a:p>
            <a:r>
              <a:rPr lang="en-US" sz="4000" dirty="0"/>
              <a:t>Targeting and VALS Framework: Who M&amp;S Is Trying to Serve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F1F6-BE05-EDF8-C786-0A06959D0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321476"/>
            <a:ext cx="4864875" cy="3850724"/>
          </a:xfrm>
        </p:spPr>
        <p:txBody>
          <a:bodyPr anchor="ctr">
            <a:normAutofit/>
          </a:bodyPr>
          <a:lstStyle/>
          <a:p>
            <a:r>
              <a:rPr lang="en-US" sz="2000" b="1"/>
              <a:t>Primary Target</a:t>
            </a:r>
          </a:p>
          <a:p>
            <a:pPr lvl="0"/>
            <a:r>
              <a:rPr lang="en-US" sz="2000"/>
              <a:t>Gen Z (18–27) </a:t>
            </a:r>
          </a:p>
          <a:p>
            <a:pPr lvl="0"/>
            <a:r>
              <a:rPr lang="en-US" sz="2000"/>
              <a:t>Millennials (28–43) </a:t>
            </a:r>
          </a:p>
          <a:p>
            <a:pPr lvl="0"/>
            <a:r>
              <a:rPr lang="en-US" sz="2000"/>
              <a:t>Fashion-conscious consumers </a:t>
            </a:r>
          </a:p>
          <a:p>
            <a:pPr lvl="0"/>
            <a:r>
              <a:rPr lang="en-US" sz="2000"/>
              <a:t>Active social media users </a:t>
            </a:r>
          </a:p>
          <a:p>
            <a:r>
              <a:rPr lang="en-US" sz="2000" b="1"/>
              <a:t>Secondary Target</a:t>
            </a:r>
          </a:p>
          <a:p>
            <a:pPr lvl="0"/>
            <a:r>
              <a:rPr lang="en-US" sz="2000"/>
              <a:t>Existing loyal M&amp;S customers </a:t>
            </a:r>
          </a:p>
          <a:p>
            <a:pPr lvl="0"/>
            <a:r>
              <a:rPr lang="en-US" sz="2000"/>
              <a:t>Families looking for quality and value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FDA6FA-7A43-7293-4C2F-7401B9B12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185207"/>
              </p:ext>
            </p:extLst>
          </p:nvPr>
        </p:nvGraphicFramePr>
        <p:xfrm>
          <a:off x="6343650" y="2957597"/>
          <a:ext cx="5178207" cy="2535171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925410">
                  <a:extLst>
                    <a:ext uri="{9D8B030D-6E8A-4147-A177-3AD203B41FA5}">
                      <a16:colId xmlns:a16="http://schemas.microsoft.com/office/drawing/2014/main" val="628112374"/>
                    </a:ext>
                  </a:extLst>
                </a:gridCol>
                <a:gridCol w="3252797">
                  <a:extLst>
                    <a:ext uri="{9D8B030D-6E8A-4147-A177-3AD203B41FA5}">
                      <a16:colId xmlns:a16="http://schemas.microsoft.com/office/drawing/2014/main" val="361579411"/>
                    </a:ext>
                  </a:extLst>
                </a:gridCol>
              </a:tblGrid>
              <a:tr h="442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VALS Type</a:t>
                      </a:r>
                    </a:p>
                  </a:txBody>
                  <a:tcPr marL="100602" marR="100602" marT="50301" marB="503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Why It Fits</a:t>
                      </a:r>
                    </a:p>
                  </a:txBody>
                  <a:tcPr marL="100602" marR="100602" marT="50301" marB="50301" anchor="ctr"/>
                </a:tc>
                <a:extLst>
                  <a:ext uri="{0D108BD9-81ED-4DB2-BD59-A6C34878D82A}">
                    <a16:rowId xmlns:a16="http://schemas.microsoft.com/office/drawing/2014/main" val="1615795514"/>
                  </a:ext>
                </a:extLst>
              </a:tr>
              <a:tr h="1046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Experiencers</a:t>
                      </a:r>
                      <a:endParaRPr lang="en-US" sz="2000"/>
                    </a:p>
                  </a:txBody>
                  <a:tcPr marL="100602" marR="100602" marT="50301" marB="503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Enjoy fashion, trends, and new styles. Influenced by TikTok and social media.</a:t>
                      </a:r>
                    </a:p>
                  </a:txBody>
                  <a:tcPr marL="100602" marR="100602" marT="50301" marB="50301" anchor="ctr"/>
                </a:tc>
                <a:extLst>
                  <a:ext uri="{0D108BD9-81ED-4DB2-BD59-A6C34878D82A}">
                    <a16:rowId xmlns:a16="http://schemas.microsoft.com/office/drawing/2014/main" val="4049601753"/>
                  </a:ext>
                </a:extLst>
              </a:tr>
              <a:tr h="1046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Achievers</a:t>
                      </a:r>
                      <a:endParaRPr lang="en-US" sz="2000"/>
                    </a:p>
                  </a:txBody>
                  <a:tcPr marL="100602" marR="100602" marT="50301" marB="503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Want stylish, good-quality clothing at a reasonable price.</a:t>
                      </a:r>
                    </a:p>
                  </a:txBody>
                  <a:tcPr marL="100602" marR="100602" marT="50301" marB="50301" anchor="ctr"/>
                </a:tc>
                <a:extLst>
                  <a:ext uri="{0D108BD9-81ED-4DB2-BD59-A6C34878D82A}">
                    <a16:rowId xmlns:a16="http://schemas.microsoft.com/office/drawing/2014/main" val="3553117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383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140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Market Segmentation: How M&amp;S Divides the Fashion Market</vt:lpstr>
      <vt:lpstr>Targeting and VALS Framework: Who M&amp;S Is Trying to Serve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Sanzeena Shrestha</dc:creator>
  <cp:lastModifiedBy>Sanzeena Shrestha</cp:lastModifiedBy>
  <cp:revision>1</cp:revision>
  <dcterms:created xsi:type="dcterms:W3CDTF">2026-08-06T03:40:26Z</dcterms:created>
  <dcterms:modified xsi:type="dcterms:W3CDTF">2026-08-06T03:44:20Z</dcterms:modified>
</cp:coreProperties>
</file>